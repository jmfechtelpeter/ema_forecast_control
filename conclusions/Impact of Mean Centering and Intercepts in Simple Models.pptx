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5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8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47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123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93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91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27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81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84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51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914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654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D1A66-EB6B-456D-8B16-97088A7C253F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EDD17-2465-406B-8BE1-6FE762718D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161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Impact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Intercepts</a:t>
            </a:r>
            <a:r>
              <a:rPr lang="de-DE" dirty="0" smtClean="0"/>
              <a:t> in Simple Models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On MRT 1 </a:t>
            </a:r>
            <a:r>
              <a:rPr lang="de-DE" dirty="0" err="1" smtClean="0"/>
              <a:t>data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2492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 dirty="0" err="1" smtClean="0"/>
              <a:t>Subtract</a:t>
            </a:r>
            <a:r>
              <a:rPr lang="de-DE" dirty="0" smtClean="0"/>
              <a:t> </a:t>
            </a:r>
            <a:r>
              <a:rPr lang="de-DE" dirty="0" err="1" smtClean="0"/>
              <a:t>mean</a:t>
            </a:r>
            <a:r>
              <a:rPr lang="de-DE" dirty="0" smtClean="0"/>
              <a:t> from </a:t>
            </a:r>
            <a:r>
              <a:rPr lang="de-DE" dirty="0" err="1" smtClean="0"/>
              <a:t>training</a:t>
            </a:r>
            <a:r>
              <a:rPr lang="de-DE" dirty="0" smtClean="0"/>
              <a:t> </a:t>
            </a:r>
            <a:r>
              <a:rPr lang="de-DE" dirty="0" err="1" smtClean="0"/>
              <a:t>set</a:t>
            </a:r>
            <a:r>
              <a:rPr lang="de-DE" dirty="0" smtClean="0"/>
              <a:t>, save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a </a:t>
            </a:r>
            <a:r>
              <a:rPr lang="de-DE" dirty="0" err="1" smtClean="0"/>
              <a:t>parameter</a:t>
            </a:r>
            <a:r>
              <a:rPr lang="de-DE" dirty="0" smtClean="0"/>
              <a:t>, then </a:t>
            </a:r>
            <a:r>
              <a:rPr lang="de-DE" dirty="0" err="1" smtClean="0"/>
              <a:t>add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predictions</a:t>
            </a:r>
            <a:endParaRPr lang="de-DE" dirty="0" smtClean="0"/>
          </a:p>
          <a:p>
            <a:pPr lvl="1"/>
            <a:r>
              <a:rPr lang="de-DE" dirty="0" err="1" smtClean="0"/>
              <a:t>Currently</a:t>
            </a:r>
            <a:r>
              <a:rPr lang="de-DE" dirty="0" smtClean="0"/>
              <a:t> </a:t>
            </a:r>
            <a:r>
              <a:rPr lang="de-DE" dirty="0" err="1" smtClean="0"/>
              <a:t>required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KalmanFilter</a:t>
            </a:r>
            <a:r>
              <a:rPr lang="de-DE" dirty="0" smtClean="0"/>
              <a:t>, PLRNN </a:t>
            </a:r>
            <a:r>
              <a:rPr lang="de-DE" dirty="0" err="1" smtClean="0"/>
              <a:t>and</a:t>
            </a:r>
            <a:r>
              <a:rPr lang="de-DE" dirty="0" smtClean="0"/>
              <a:t> Transformer, but not </a:t>
            </a:r>
            <a:r>
              <a:rPr lang="de-DE" dirty="0" err="1" smtClean="0"/>
              <a:t>for</a:t>
            </a:r>
            <a:r>
              <a:rPr lang="de-DE" dirty="0" smtClean="0"/>
              <a:t> Simple Models</a:t>
            </a:r>
          </a:p>
          <a:p>
            <a:pPr lvl="1"/>
            <a:r>
              <a:rPr lang="de-DE" dirty="0" smtClean="0"/>
              <a:t>In latent </a:t>
            </a:r>
            <a:r>
              <a:rPr lang="de-DE" dirty="0" err="1" smtClean="0"/>
              <a:t>models</a:t>
            </a:r>
            <a:r>
              <a:rPr lang="de-DE" dirty="0" smtClean="0"/>
              <a:t>, </a:t>
            </a: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interpreted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a </a:t>
            </a:r>
            <a:r>
              <a:rPr lang="de-DE" dirty="0" err="1" smtClean="0"/>
              <a:t>fixed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observation</a:t>
            </a:r>
            <a:r>
              <a:rPr lang="de-DE" dirty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.</a:t>
            </a:r>
            <a:endParaRPr lang="de-DE" dirty="0"/>
          </a:p>
          <a:p>
            <a:pPr lvl="1"/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56755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Intercept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Most simple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global </a:t>
            </a:r>
            <a:r>
              <a:rPr lang="de-DE" dirty="0" err="1" smtClean="0"/>
              <a:t>mean</a:t>
            </a:r>
            <a:r>
              <a:rPr lang="de-DE" dirty="0" smtClean="0"/>
              <a:t> (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 </a:t>
            </a:r>
            <a:r>
              <a:rPr lang="de-DE" dirty="0" err="1" smtClean="0"/>
              <a:t>constant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)</a:t>
            </a:r>
          </a:p>
          <a:p>
            <a:r>
              <a:rPr lang="de-DE" dirty="0" smtClean="0"/>
              <a:t>Regression </a:t>
            </a:r>
            <a:r>
              <a:rPr lang="de-DE" dirty="0" err="1" smtClean="0"/>
              <a:t>and</a:t>
            </a:r>
            <a:r>
              <a:rPr lang="de-DE" dirty="0" smtClean="0"/>
              <a:t> VAR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easily</a:t>
            </a:r>
            <a:r>
              <a:rPr lang="de-DE" dirty="0" smtClean="0"/>
              <a:t> </a:t>
            </a:r>
            <a:r>
              <a:rPr lang="de-DE" dirty="0" err="1" smtClean="0"/>
              <a:t>equipped</a:t>
            </a:r>
            <a:r>
              <a:rPr lang="de-DE" dirty="0" smtClean="0"/>
              <a:t> with </a:t>
            </a:r>
            <a:r>
              <a:rPr lang="de-DE" dirty="0" err="1" smtClean="0"/>
              <a:t>intercept</a:t>
            </a:r>
            <a:endParaRPr lang="de-DE" dirty="0" smtClean="0"/>
          </a:p>
          <a:p>
            <a:r>
              <a:rPr lang="de-DE" dirty="0" smtClean="0"/>
              <a:t>Kalman Filter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less</a:t>
            </a:r>
            <a:r>
              <a:rPr lang="de-DE" dirty="0" smtClean="0"/>
              <a:t> easy, you would have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modify</a:t>
            </a:r>
            <a:r>
              <a:rPr lang="de-DE" dirty="0" smtClean="0"/>
              <a:t> EM</a:t>
            </a:r>
          </a:p>
          <a:p>
            <a:r>
              <a:rPr lang="de-DE" dirty="0" smtClean="0"/>
              <a:t>PLRNN </a:t>
            </a:r>
            <a:r>
              <a:rPr lang="de-DE" dirty="0" err="1" smtClean="0"/>
              <a:t>has</a:t>
            </a:r>
            <a:r>
              <a:rPr lang="de-DE" dirty="0" smtClean="0"/>
              <a:t> h1 in latent </a:t>
            </a:r>
            <a:r>
              <a:rPr lang="de-DE" dirty="0" err="1" smtClean="0"/>
              <a:t>space</a:t>
            </a:r>
            <a:r>
              <a:rPr lang="de-DE" dirty="0" smtClean="0"/>
              <a:t>,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interpreted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endParaRPr lang="de-DE" dirty="0" smtClean="0"/>
          </a:p>
          <a:p>
            <a:r>
              <a:rPr lang="de-DE" dirty="0" smtClean="0"/>
              <a:t>But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question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: </a:t>
            </a:r>
            <a:r>
              <a:rPr lang="de-DE" dirty="0" err="1" smtClean="0"/>
              <a:t>does</a:t>
            </a:r>
            <a:r>
              <a:rPr lang="de-DE" dirty="0" smtClean="0"/>
              <a:t> an </a:t>
            </a:r>
            <a:r>
              <a:rPr lang="de-DE" dirty="0" err="1" smtClean="0"/>
              <a:t>intercept</a:t>
            </a:r>
            <a:r>
              <a:rPr lang="de-DE" dirty="0" smtClean="0"/>
              <a:t> in latent </a:t>
            </a:r>
            <a:r>
              <a:rPr lang="de-DE" dirty="0" err="1" smtClean="0"/>
              <a:t>space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on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observation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 </a:t>
            </a:r>
            <a:r>
              <a:rPr lang="de-DE" dirty="0" err="1" smtClean="0"/>
              <a:t>make</a:t>
            </a:r>
            <a:r>
              <a:rPr lang="de-DE" dirty="0" smtClean="0"/>
              <a:t> </a:t>
            </a:r>
            <a:r>
              <a:rPr lang="de-DE" dirty="0" err="1" smtClean="0"/>
              <a:t>more</a:t>
            </a:r>
            <a:r>
              <a:rPr lang="de-DE" dirty="0" smtClean="0"/>
              <a:t> sense?</a:t>
            </a:r>
          </a:p>
        </p:txBody>
      </p:sp>
    </p:spTree>
    <p:extLst>
      <p:ext uri="{BB962C8B-B14F-4D97-AF65-F5344CB8AC3E}">
        <p14:creationId xmlns:p14="http://schemas.microsoft.com/office/powerpoint/2010/main" val="253548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Theoretical</a:t>
            </a:r>
            <a:r>
              <a:rPr lang="de-DE" dirty="0" smtClean="0"/>
              <a:t> Arguments </a:t>
            </a:r>
            <a:r>
              <a:rPr lang="de-DE" dirty="0" err="1" smtClean="0"/>
              <a:t>for</a:t>
            </a:r>
            <a:r>
              <a:rPr lang="de-DE" dirty="0" smtClean="0"/>
              <a:t>/</a:t>
            </a:r>
            <a:r>
              <a:rPr lang="de-DE" dirty="0" err="1" smtClean="0"/>
              <a:t>against</a:t>
            </a:r>
            <a:r>
              <a:rPr lang="de-DE" dirty="0" smtClean="0"/>
              <a:t> </a:t>
            </a:r>
            <a:r>
              <a:rPr lang="de-DE" dirty="0" err="1" smtClean="0"/>
              <a:t>using</a:t>
            </a:r>
            <a:r>
              <a:rPr lang="de-DE" dirty="0" smtClean="0"/>
              <a:t> </a:t>
            </a: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/>
              <a:t>/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:</a:t>
            </a:r>
          </a:p>
          <a:p>
            <a:r>
              <a:rPr lang="de-DE" dirty="0" err="1" smtClean="0">
                <a:solidFill>
                  <a:srgbClr val="00B050"/>
                </a:solidFill>
              </a:rPr>
              <a:t>Consistency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smtClean="0">
                <a:solidFill>
                  <a:srgbClr val="00B050"/>
                </a:solidFill>
              </a:rPr>
              <a:t>(</a:t>
            </a:r>
            <a:r>
              <a:rPr lang="de-DE" dirty="0" err="1" smtClean="0">
                <a:solidFill>
                  <a:srgbClr val="00B050"/>
                </a:solidFill>
              </a:rPr>
              <a:t>currently</a:t>
            </a:r>
            <a:r>
              <a:rPr lang="de-DE" dirty="0" smtClean="0">
                <a:solidFill>
                  <a:srgbClr val="00B050"/>
                </a:solidFill>
              </a:rPr>
              <a:t> have </a:t>
            </a:r>
            <a:r>
              <a:rPr lang="de-DE" dirty="0" err="1" smtClean="0">
                <a:solidFill>
                  <a:srgbClr val="00B050"/>
                </a:solidFill>
              </a:rPr>
              <a:t>to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use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it</a:t>
            </a:r>
            <a:r>
              <a:rPr lang="de-DE" dirty="0" smtClean="0">
                <a:solidFill>
                  <a:srgbClr val="00B050"/>
                </a:solidFill>
              </a:rPr>
              <a:t> in Kalman Filter </a:t>
            </a:r>
            <a:r>
              <a:rPr lang="de-DE" dirty="0" err="1" smtClean="0">
                <a:solidFill>
                  <a:srgbClr val="00B050"/>
                </a:solidFill>
              </a:rPr>
              <a:t>anyway</a:t>
            </a:r>
            <a:r>
              <a:rPr lang="de-DE" dirty="0" smtClean="0">
                <a:solidFill>
                  <a:srgbClr val="00B050"/>
                </a:solidFill>
              </a:rPr>
              <a:t>)</a:t>
            </a:r>
          </a:p>
          <a:p>
            <a:r>
              <a:rPr lang="de-DE" dirty="0" err="1" smtClean="0">
                <a:solidFill>
                  <a:srgbClr val="00B050"/>
                </a:solidFill>
              </a:rPr>
              <a:t>For</a:t>
            </a:r>
            <a:r>
              <a:rPr lang="de-DE" dirty="0" smtClean="0">
                <a:solidFill>
                  <a:srgbClr val="00B050"/>
                </a:solidFill>
              </a:rPr>
              <a:t> linear </a:t>
            </a:r>
            <a:r>
              <a:rPr lang="de-DE" dirty="0" err="1" smtClean="0">
                <a:solidFill>
                  <a:srgbClr val="00B050"/>
                </a:solidFill>
              </a:rPr>
              <a:t>model</a:t>
            </a:r>
            <a:r>
              <a:rPr lang="de-DE" dirty="0" smtClean="0">
                <a:solidFill>
                  <a:srgbClr val="00B050"/>
                </a:solidFill>
              </a:rPr>
              <a:t> in latent </a:t>
            </a:r>
            <a:r>
              <a:rPr lang="de-DE" dirty="0" err="1" smtClean="0">
                <a:solidFill>
                  <a:srgbClr val="00B050"/>
                </a:solidFill>
              </a:rPr>
              <a:t>space</a:t>
            </a:r>
            <a:r>
              <a:rPr lang="de-DE" dirty="0" smtClean="0">
                <a:solidFill>
                  <a:srgbClr val="00B050"/>
                </a:solidFill>
              </a:rPr>
              <a:t>, </a:t>
            </a:r>
            <a:r>
              <a:rPr lang="de-DE" dirty="0" err="1" smtClean="0">
                <a:solidFill>
                  <a:srgbClr val="00B050"/>
                </a:solidFill>
              </a:rPr>
              <a:t>the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fixed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point</a:t>
            </a:r>
            <a:r>
              <a:rPr lang="de-DE" dirty="0" smtClean="0">
                <a:solidFill>
                  <a:srgbClr val="00B050"/>
                </a:solidFill>
              </a:rPr>
              <a:t> 0 </a:t>
            </a:r>
            <a:r>
              <a:rPr lang="de-DE" dirty="0" err="1" smtClean="0">
                <a:solidFill>
                  <a:srgbClr val="00B050"/>
                </a:solidFill>
              </a:rPr>
              <a:t>is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roughly</a:t>
            </a:r>
            <a:r>
              <a:rPr lang="de-DE" dirty="0" smtClean="0">
                <a:solidFill>
                  <a:srgbClr val="00B050"/>
                </a:solidFill>
              </a:rPr>
              <a:t> at </a:t>
            </a:r>
            <a:r>
              <a:rPr lang="de-DE" dirty="0" err="1" smtClean="0">
                <a:solidFill>
                  <a:srgbClr val="00B050"/>
                </a:solidFill>
              </a:rPr>
              <a:t>the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center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of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the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data</a:t>
            </a:r>
            <a:endParaRPr lang="de-DE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e-DE" dirty="0" err="1" smtClean="0"/>
              <a:t>Intercept</a:t>
            </a:r>
            <a:r>
              <a:rPr lang="de-DE" dirty="0" smtClean="0"/>
              <a:t>:</a:t>
            </a:r>
          </a:p>
          <a:p>
            <a:r>
              <a:rPr lang="de-DE" dirty="0" err="1" smtClean="0">
                <a:solidFill>
                  <a:srgbClr val="00B050"/>
                </a:solidFill>
              </a:rPr>
              <a:t>Conventional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for</a:t>
            </a:r>
            <a:r>
              <a:rPr lang="de-DE" dirty="0" smtClean="0">
                <a:solidFill>
                  <a:srgbClr val="00B050"/>
                </a:solidFill>
              </a:rPr>
              <a:t> </a:t>
            </a:r>
            <a:r>
              <a:rPr lang="de-DE" dirty="0" err="1" smtClean="0">
                <a:solidFill>
                  <a:srgbClr val="00B050"/>
                </a:solidFill>
              </a:rPr>
              <a:t>regression</a:t>
            </a:r>
            <a:endParaRPr lang="de-DE" dirty="0" smtClean="0">
              <a:solidFill>
                <a:srgbClr val="00B050"/>
              </a:solidFill>
            </a:endParaRPr>
          </a:p>
          <a:p>
            <a:r>
              <a:rPr lang="de-DE" dirty="0" err="1" smtClean="0">
                <a:solidFill>
                  <a:srgbClr val="00B050"/>
                </a:solidFill>
              </a:rPr>
              <a:t>Consistency</a:t>
            </a:r>
            <a:r>
              <a:rPr lang="de-DE" dirty="0" smtClean="0">
                <a:solidFill>
                  <a:srgbClr val="00B050"/>
                </a:solidFill>
              </a:rPr>
              <a:t> (</a:t>
            </a:r>
            <a:r>
              <a:rPr lang="de-DE" dirty="0" err="1" smtClean="0">
                <a:solidFill>
                  <a:srgbClr val="00B050"/>
                </a:solidFill>
              </a:rPr>
              <a:t>We</a:t>
            </a:r>
            <a:r>
              <a:rPr lang="de-DE" dirty="0" smtClean="0">
                <a:solidFill>
                  <a:srgbClr val="00B050"/>
                </a:solidFill>
              </a:rPr>
              <a:t> have </a:t>
            </a:r>
            <a:r>
              <a:rPr lang="de-DE" dirty="0" err="1" smtClean="0">
                <a:solidFill>
                  <a:srgbClr val="00B050"/>
                </a:solidFill>
              </a:rPr>
              <a:t>something</a:t>
            </a:r>
            <a:r>
              <a:rPr lang="de-DE" dirty="0" smtClean="0">
                <a:solidFill>
                  <a:srgbClr val="00B050"/>
                </a:solidFill>
              </a:rPr>
              <a:t> like an </a:t>
            </a:r>
            <a:r>
              <a:rPr lang="de-DE" dirty="0" err="1" smtClean="0">
                <a:solidFill>
                  <a:srgbClr val="00B050"/>
                </a:solidFill>
              </a:rPr>
              <a:t>intercept</a:t>
            </a:r>
            <a:r>
              <a:rPr lang="de-DE" dirty="0" smtClean="0">
                <a:solidFill>
                  <a:srgbClr val="00B050"/>
                </a:solidFill>
              </a:rPr>
              <a:t> in </a:t>
            </a:r>
            <a:r>
              <a:rPr lang="de-DE" dirty="0" err="1" smtClean="0">
                <a:solidFill>
                  <a:srgbClr val="00B050"/>
                </a:solidFill>
              </a:rPr>
              <a:t>the</a:t>
            </a:r>
            <a:r>
              <a:rPr lang="de-DE" dirty="0" smtClean="0">
                <a:solidFill>
                  <a:srgbClr val="00B050"/>
                </a:solidFill>
              </a:rPr>
              <a:t> PLRNN </a:t>
            </a:r>
            <a:r>
              <a:rPr lang="de-DE" dirty="0" err="1" smtClean="0">
                <a:solidFill>
                  <a:srgbClr val="00B050"/>
                </a:solidFill>
              </a:rPr>
              <a:t>anyway</a:t>
            </a:r>
            <a:r>
              <a:rPr lang="de-DE" dirty="0" smtClean="0">
                <a:solidFill>
                  <a:srgbClr val="00B050"/>
                </a:solidFill>
              </a:rPr>
              <a:t>)</a:t>
            </a:r>
          </a:p>
          <a:p>
            <a:r>
              <a:rPr lang="de-DE" dirty="0" err="1" smtClean="0">
                <a:solidFill>
                  <a:srgbClr val="FF0000"/>
                </a:solidFill>
              </a:rPr>
              <a:t>Consistency</a:t>
            </a:r>
            <a:r>
              <a:rPr lang="de-DE" dirty="0" smtClean="0">
                <a:solidFill>
                  <a:srgbClr val="FF0000"/>
                </a:solidFill>
              </a:rPr>
              <a:t> (</a:t>
            </a:r>
            <a:r>
              <a:rPr lang="de-DE" dirty="0" err="1" smtClean="0">
                <a:solidFill>
                  <a:srgbClr val="FF0000"/>
                </a:solidFill>
              </a:rPr>
              <a:t>We</a:t>
            </a:r>
            <a:r>
              <a:rPr lang="de-DE" dirty="0" smtClean="0">
                <a:solidFill>
                  <a:srgbClr val="FF0000"/>
                </a:solidFill>
              </a:rPr>
              <a:t> don‘t have </a:t>
            </a:r>
            <a:r>
              <a:rPr lang="de-DE" dirty="0" err="1" smtClean="0">
                <a:solidFill>
                  <a:srgbClr val="FF0000"/>
                </a:solidFill>
              </a:rPr>
              <a:t>it</a:t>
            </a:r>
            <a:r>
              <a:rPr lang="de-DE" dirty="0" smtClean="0">
                <a:solidFill>
                  <a:srgbClr val="FF0000"/>
                </a:solidFill>
              </a:rPr>
              <a:t> in Kalman Filter, </a:t>
            </a:r>
            <a:r>
              <a:rPr lang="de-DE" dirty="0" err="1" smtClean="0">
                <a:solidFill>
                  <a:srgbClr val="FF0000"/>
                </a:solidFill>
              </a:rPr>
              <a:t>which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we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introduce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as</a:t>
            </a:r>
            <a:r>
              <a:rPr lang="de-DE" dirty="0" smtClean="0">
                <a:solidFill>
                  <a:srgbClr val="FF0000"/>
                </a:solidFill>
              </a:rPr>
              <a:t> a VAR(1) in latent </a:t>
            </a:r>
            <a:r>
              <a:rPr lang="de-DE" dirty="0" err="1" smtClean="0">
                <a:solidFill>
                  <a:srgbClr val="FF0000"/>
                </a:solidFill>
              </a:rPr>
              <a:t>space</a:t>
            </a:r>
            <a:r>
              <a:rPr lang="de-DE" dirty="0" smtClean="0">
                <a:solidFill>
                  <a:srgbClr val="FF0000"/>
                </a:solidFill>
              </a:rPr>
              <a:t>)</a:t>
            </a:r>
          </a:p>
          <a:p>
            <a:r>
              <a:rPr lang="de-DE" dirty="0" err="1" smtClean="0">
                <a:solidFill>
                  <a:srgbClr val="FF0000"/>
                </a:solidFill>
              </a:rPr>
              <a:t>Unclear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if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we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should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introduce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it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into</a:t>
            </a:r>
            <a:r>
              <a:rPr lang="de-DE" dirty="0" smtClean="0">
                <a:solidFill>
                  <a:srgbClr val="FF0000"/>
                </a:solidFill>
              </a:rPr>
              <a:t> latent </a:t>
            </a:r>
            <a:r>
              <a:rPr lang="de-DE" dirty="0" err="1" smtClean="0">
                <a:solidFill>
                  <a:srgbClr val="FF0000"/>
                </a:solidFill>
              </a:rPr>
              <a:t>or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observation</a:t>
            </a:r>
            <a:r>
              <a:rPr lang="de-DE" dirty="0" smtClean="0">
                <a:solidFill>
                  <a:srgbClr val="FF0000"/>
                </a:solidFill>
              </a:rPr>
              <a:t> </a:t>
            </a:r>
            <a:r>
              <a:rPr lang="de-DE" dirty="0" err="1" smtClean="0">
                <a:solidFill>
                  <a:srgbClr val="FF0000"/>
                </a:solidFill>
              </a:rPr>
              <a:t>model</a:t>
            </a:r>
            <a:endParaRPr lang="de-DE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e-DE" dirty="0" err="1" smtClean="0"/>
              <a:t>Both</a:t>
            </a:r>
            <a:r>
              <a:rPr lang="de-DE" dirty="0" smtClean="0"/>
              <a:t>:</a:t>
            </a:r>
          </a:p>
          <a:p>
            <a:r>
              <a:rPr lang="de-DE" dirty="0" err="1" smtClean="0">
                <a:solidFill>
                  <a:srgbClr val="FF0000"/>
                </a:solidFill>
              </a:rPr>
              <a:t>Seems</a:t>
            </a:r>
            <a:r>
              <a:rPr lang="de-DE" dirty="0" smtClean="0">
                <a:solidFill>
                  <a:srgbClr val="FF0000"/>
                </a:solidFill>
              </a:rPr>
              <a:t> redundant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6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Testing</a:t>
            </a:r>
            <a:r>
              <a:rPr lang="de-DE" dirty="0" smtClean="0"/>
              <a:t> </a:t>
            </a:r>
            <a:r>
              <a:rPr lang="de-DE" dirty="0" err="1" smtClean="0"/>
              <a:t>impact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improves</a:t>
            </a:r>
            <a:r>
              <a:rPr lang="de-DE" dirty="0" smtClean="0"/>
              <a:t> MAE in VAR1, </a:t>
            </a:r>
            <a:r>
              <a:rPr lang="de-DE" dirty="0" err="1" smtClean="0"/>
              <a:t>for</a:t>
            </a:r>
            <a:r>
              <a:rPr lang="de-DE" dirty="0" smtClean="0"/>
              <a:t> Regression </a:t>
            </a:r>
            <a:r>
              <a:rPr lang="de-DE" dirty="0" err="1" smtClean="0"/>
              <a:t>there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change</a:t>
            </a:r>
            <a:r>
              <a:rPr lang="de-DE" dirty="0" smtClean="0"/>
              <a:t>. </a:t>
            </a:r>
          </a:p>
          <a:p>
            <a:r>
              <a:rPr lang="de-DE" dirty="0" err="1" smtClean="0"/>
              <a:t>Intercept</a:t>
            </a:r>
            <a:r>
              <a:rPr lang="de-DE" dirty="0" smtClean="0"/>
              <a:t> </a:t>
            </a:r>
            <a:r>
              <a:rPr lang="de-DE" dirty="0" err="1" smtClean="0"/>
              <a:t>slightly</a:t>
            </a:r>
            <a:r>
              <a:rPr lang="de-DE" dirty="0"/>
              <a:t> </a:t>
            </a:r>
            <a:r>
              <a:rPr lang="de-DE" dirty="0" err="1" smtClean="0"/>
              <a:t>deteriorates</a:t>
            </a:r>
            <a:r>
              <a:rPr lang="de-DE" dirty="0" smtClean="0"/>
              <a:t> MAE </a:t>
            </a:r>
            <a:r>
              <a:rPr lang="de-DE" dirty="0" err="1" smtClean="0"/>
              <a:t>for</a:t>
            </a:r>
            <a:r>
              <a:rPr lang="de-DE" dirty="0" smtClean="0"/>
              <a:t> Regression, not </a:t>
            </a:r>
            <a:r>
              <a:rPr lang="de-DE" dirty="0" err="1" smtClean="0"/>
              <a:t>for</a:t>
            </a:r>
            <a:r>
              <a:rPr lang="de-DE" dirty="0" smtClean="0"/>
              <a:t> VAR1</a:t>
            </a:r>
            <a:endParaRPr lang="de-DE" dirty="0"/>
          </a:p>
        </p:txBody>
      </p:sp>
      <p:grpSp>
        <p:nvGrpSpPr>
          <p:cNvPr id="10" name="Gruppieren 9"/>
          <p:cNvGrpSpPr/>
          <p:nvPr/>
        </p:nvGrpSpPr>
        <p:grpSpPr>
          <a:xfrm>
            <a:off x="838200" y="3807045"/>
            <a:ext cx="5657850" cy="2276475"/>
            <a:chOff x="838200" y="3807045"/>
            <a:chExt cx="5657850" cy="2276475"/>
          </a:xfrm>
        </p:grpSpPr>
        <p:pic>
          <p:nvPicPr>
            <p:cNvPr id="8" name="Grafik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807045"/>
              <a:ext cx="5657850" cy="2276475"/>
            </a:xfrm>
            <a:prstGeom prst="rect">
              <a:avLst/>
            </a:prstGeom>
          </p:spPr>
        </p:pic>
        <p:sp>
          <p:nvSpPr>
            <p:cNvPr id="9" name="Textfeld 8"/>
            <p:cNvSpPr txBox="1"/>
            <p:nvPr/>
          </p:nvSpPr>
          <p:spPr>
            <a:xfrm>
              <a:off x="4519914" y="4213185"/>
              <a:ext cx="18693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smtClean="0"/>
                <a:t>(Model, </a:t>
              </a:r>
              <a:r>
                <a:rPr lang="de-DE" sz="1200" dirty="0" err="1" smtClean="0"/>
                <a:t>Intercept</a:t>
              </a:r>
              <a:r>
                <a:rPr lang="de-DE" sz="1200" dirty="0" smtClean="0"/>
                <a:t>)</a:t>
              </a:r>
              <a:endParaRPr lang="de-DE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14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Testing</a:t>
            </a:r>
            <a:r>
              <a:rPr lang="de-DE" dirty="0" smtClean="0"/>
              <a:t> </a:t>
            </a:r>
            <a:r>
              <a:rPr lang="de-DE" dirty="0" err="1" smtClean="0"/>
              <a:t>impact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has</a:t>
            </a:r>
            <a:r>
              <a:rPr lang="de-DE" dirty="0" smtClean="0"/>
              <a:t>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effect</a:t>
            </a:r>
            <a:r>
              <a:rPr lang="de-DE" dirty="0" smtClean="0"/>
              <a:t> on </a:t>
            </a:r>
            <a:r>
              <a:rPr lang="de-DE" dirty="0" err="1" smtClean="0"/>
              <a:t>diff_MAE</a:t>
            </a:r>
            <a:r>
              <a:rPr lang="de-DE" dirty="0" smtClean="0"/>
              <a:t> in VAR1 </a:t>
            </a:r>
            <a:r>
              <a:rPr lang="de-DE" dirty="0" err="1" smtClean="0"/>
              <a:t>and</a:t>
            </a:r>
            <a:r>
              <a:rPr lang="de-DE" dirty="0" smtClean="0"/>
              <a:t> Regression</a:t>
            </a:r>
          </a:p>
          <a:p>
            <a:r>
              <a:rPr lang="de-DE" dirty="0" err="1" smtClean="0"/>
              <a:t>Intercept</a:t>
            </a:r>
            <a:r>
              <a:rPr lang="de-DE" dirty="0" smtClean="0"/>
              <a:t> </a:t>
            </a:r>
            <a:r>
              <a:rPr lang="de-DE" dirty="0" err="1" smtClean="0"/>
              <a:t>deteriorates</a:t>
            </a:r>
            <a:r>
              <a:rPr lang="de-DE" dirty="0" smtClean="0"/>
              <a:t> </a:t>
            </a:r>
            <a:r>
              <a:rPr lang="de-DE" dirty="0" err="1" smtClean="0"/>
              <a:t>diff_MAE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Regression </a:t>
            </a:r>
            <a:r>
              <a:rPr lang="de-DE" dirty="0" err="1" smtClean="0"/>
              <a:t>and</a:t>
            </a:r>
            <a:r>
              <a:rPr lang="de-DE" dirty="0" smtClean="0"/>
              <a:t> VAR1</a:t>
            </a:r>
            <a:endParaRPr lang="de-DE" dirty="0"/>
          </a:p>
        </p:txBody>
      </p:sp>
      <p:grpSp>
        <p:nvGrpSpPr>
          <p:cNvPr id="5" name="Gruppieren 4"/>
          <p:cNvGrpSpPr/>
          <p:nvPr/>
        </p:nvGrpSpPr>
        <p:grpSpPr>
          <a:xfrm>
            <a:off x="934777" y="3746700"/>
            <a:ext cx="5657850" cy="2276475"/>
            <a:chOff x="934777" y="3746700"/>
            <a:chExt cx="5657850" cy="2276475"/>
          </a:xfrm>
        </p:grpSpPr>
        <p:pic>
          <p:nvPicPr>
            <p:cNvPr id="4" name="Grafik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777" y="3746700"/>
              <a:ext cx="5657850" cy="2276475"/>
            </a:xfrm>
            <a:prstGeom prst="rect">
              <a:avLst/>
            </a:prstGeom>
          </p:spPr>
        </p:pic>
        <p:sp>
          <p:nvSpPr>
            <p:cNvPr id="9" name="Textfeld 8"/>
            <p:cNvSpPr txBox="1"/>
            <p:nvPr/>
          </p:nvSpPr>
          <p:spPr>
            <a:xfrm>
              <a:off x="4595149" y="4091651"/>
              <a:ext cx="18693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 smtClean="0"/>
                <a:t>(Model, </a:t>
              </a:r>
              <a:r>
                <a:rPr lang="de-DE" sz="1200" dirty="0" err="1" smtClean="0"/>
                <a:t>Intercept</a:t>
              </a:r>
              <a:r>
                <a:rPr lang="de-DE" sz="1200" dirty="0" smtClean="0"/>
                <a:t>)</a:t>
              </a:r>
              <a:endParaRPr lang="de-DE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8278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14" y="3746700"/>
            <a:ext cx="5743575" cy="227647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Testing</a:t>
            </a:r>
            <a:r>
              <a:rPr lang="de-DE" dirty="0" smtClean="0"/>
              <a:t> </a:t>
            </a:r>
            <a:r>
              <a:rPr lang="de-DE" dirty="0" err="1" smtClean="0"/>
              <a:t>impact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r>
              <a:rPr lang="de-DE" dirty="0" smtClean="0"/>
              <a:t> </a:t>
            </a:r>
            <a:r>
              <a:rPr lang="de-DE" dirty="0" err="1" smtClean="0"/>
              <a:t>slightly</a:t>
            </a:r>
            <a:r>
              <a:rPr lang="de-DE" dirty="0" smtClean="0"/>
              <a:t> </a:t>
            </a:r>
            <a:r>
              <a:rPr lang="de-DE" dirty="0" err="1" smtClean="0"/>
              <a:t>deteriorates</a:t>
            </a:r>
            <a:r>
              <a:rPr lang="de-DE" dirty="0" smtClean="0"/>
              <a:t> </a:t>
            </a:r>
            <a:r>
              <a:rPr lang="de-DE" dirty="0" err="1" smtClean="0"/>
              <a:t>change_MAE</a:t>
            </a:r>
            <a:r>
              <a:rPr lang="de-DE" dirty="0" smtClean="0"/>
              <a:t> in VAR1,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effect</a:t>
            </a:r>
            <a:r>
              <a:rPr lang="de-DE" dirty="0" smtClean="0"/>
              <a:t> in Regression</a:t>
            </a:r>
          </a:p>
          <a:p>
            <a:r>
              <a:rPr lang="de-DE" dirty="0" err="1" smtClean="0"/>
              <a:t>Intercept</a:t>
            </a:r>
            <a:r>
              <a:rPr lang="de-DE" dirty="0" smtClean="0"/>
              <a:t> </a:t>
            </a:r>
            <a:r>
              <a:rPr lang="de-DE" dirty="0" err="1" smtClean="0"/>
              <a:t>deteriorates</a:t>
            </a:r>
            <a:r>
              <a:rPr lang="de-DE" dirty="0" smtClean="0"/>
              <a:t> </a:t>
            </a:r>
            <a:r>
              <a:rPr lang="de-DE" dirty="0" err="1" smtClean="0"/>
              <a:t>diff_MAE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Regression, </a:t>
            </a: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effect</a:t>
            </a:r>
            <a:r>
              <a:rPr lang="de-DE" dirty="0" smtClean="0"/>
              <a:t> in VAR1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4595149" y="4091651"/>
            <a:ext cx="1869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(Model, </a:t>
            </a:r>
            <a:r>
              <a:rPr lang="de-DE" sz="1200" dirty="0" err="1" smtClean="0"/>
              <a:t>Intercept</a:t>
            </a:r>
            <a:r>
              <a:rPr lang="de-DE" sz="1200" dirty="0" smtClean="0"/>
              <a:t>)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406186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Bottom</a:t>
            </a:r>
            <a:r>
              <a:rPr lang="de-DE" dirty="0" smtClean="0"/>
              <a:t> </a:t>
            </a:r>
            <a:r>
              <a:rPr lang="de-DE" dirty="0" err="1" smtClean="0"/>
              <a:t>line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mean</a:t>
            </a:r>
            <a:r>
              <a:rPr lang="de-DE" dirty="0" smtClean="0"/>
              <a:t> </a:t>
            </a:r>
            <a:r>
              <a:rPr lang="de-DE" dirty="0" err="1" smtClean="0"/>
              <a:t>centering</a:t>
            </a:r>
            <a:endParaRPr lang="de-DE" dirty="0" smtClean="0"/>
          </a:p>
          <a:p>
            <a:r>
              <a:rPr lang="de-DE" dirty="0" smtClean="0"/>
              <a:t>Don‘t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r>
              <a:rPr lang="de-DE" dirty="0"/>
              <a:t> </a:t>
            </a:r>
            <a:r>
              <a:rPr lang="de-DE" dirty="0" err="1" smtClean="0"/>
              <a:t>if</a:t>
            </a:r>
            <a:r>
              <a:rPr lang="de-DE" dirty="0" smtClean="0"/>
              <a:t> you </a:t>
            </a:r>
            <a:r>
              <a:rPr lang="de-DE" dirty="0" err="1" smtClean="0"/>
              <a:t>want</a:t>
            </a:r>
            <a:r>
              <a:rPr lang="de-DE" dirty="0" smtClean="0"/>
              <a:t> your simple </a:t>
            </a:r>
            <a:r>
              <a:rPr lang="de-DE" dirty="0" err="1" smtClean="0"/>
              <a:t>models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good</a:t>
            </a:r>
            <a:endParaRPr lang="de-DE" dirty="0" smtClean="0"/>
          </a:p>
          <a:p>
            <a:r>
              <a:rPr lang="de-DE" dirty="0" smtClean="0"/>
              <a:t>I will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intercept</a:t>
            </a:r>
            <a:r>
              <a:rPr lang="de-DE" dirty="0" smtClean="0"/>
              <a:t> </a:t>
            </a:r>
            <a:r>
              <a:rPr lang="de-DE" dirty="0" err="1" smtClean="0"/>
              <a:t>anyway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consistency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2426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</Words>
  <Application>Microsoft Office PowerPoint</Application>
  <PresentationFormat>Breitbild</PresentationFormat>
  <Paragraphs>39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Impact of Mean Centering and Intercepts in Simple Models</vt:lpstr>
      <vt:lpstr>Mean Centering</vt:lpstr>
      <vt:lpstr>Intercept</vt:lpstr>
      <vt:lpstr>Theoretical Arguments for/against using Mean Centering and/or Intercept</vt:lpstr>
      <vt:lpstr>Testing impact of mean centering and intercept</vt:lpstr>
      <vt:lpstr>Testing impact of mean centering and intercept</vt:lpstr>
      <vt:lpstr>Testing impact of mean centering and intercept</vt:lpstr>
      <vt:lpstr>Bottom line</vt:lpstr>
    </vt:vector>
  </TitlesOfParts>
  <Company>ZI 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LR Annealing</dc:title>
  <dc:creator>Fechtelpeter, Janik</dc:creator>
  <cp:lastModifiedBy>Fechtelpeter, Janik</cp:lastModifiedBy>
  <cp:revision>8</cp:revision>
  <dcterms:created xsi:type="dcterms:W3CDTF">2025-02-19T13:39:41Z</dcterms:created>
  <dcterms:modified xsi:type="dcterms:W3CDTF">2025-03-19T14:13:26Z</dcterms:modified>
</cp:coreProperties>
</file>